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69" r:id="rId5"/>
    <p:sldId id="257" r:id="rId6"/>
    <p:sldId id="258" r:id="rId7"/>
    <p:sldId id="270" r:id="rId8"/>
    <p:sldId id="259" r:id="rId9"/>
    <p:sldId id="271" r:id="rId10"/>
    <p:sldId id="260" r:id="rId11"/>
    <p:sldId id="261" r:id="rId12"/>
    <p:sldId id="272" r:id="rId13"/>
    <p:sldId id="262" r:id="rId14"/>
    <p:sldId id="273" r:id="rId15"/>
    <p:sldId id="274" r:id="rId16"/>
    <p:sldId id="263" r:id="rId17"/>
    <p:sldId id="275" r:id="rId18"/>
    <p:sldId id="264" r:id="rId19"/>
    <p:sldId id="279" r:id="rId20"/>
    <p:sldId id="265" r:id="rId21"/>
    <p:sldId id="276" r:id="rId22"/>
    <p:sldId id="266" r:id="rId23"/>
    <p:sldId id="277" r:id="rId24"/>
    <p:sldId id="267" r:id="rId25"/>
    <p:sldId id="26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C9B"/>
    <a:srgbClr val="FF99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E1791-7DD4-4781-9106-4C27DB1EC907}" v="61" dt="2026-05-14T16:54:06.847"/>
    <p1510:client id="{5E74D35B-1B00-4AE7-AEFF-6D7C88AC5149}" v="286" dt="2026-05-14T17:17:34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64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64914-AFF7-7CCA-09FD-9DFBCF51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E358A-F300-724D-0151-E77ACE0A2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0B155-18AD-6F86-DCBB-A96FC927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66A6F-0211-D363-F99F-304AB7B45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23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1E01-AE3A-44F9-FAE6-0FCC119D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94FD0-F7B1-5B88-035D-02940AA88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BE572-69B1-8A33-86E0-4619F3EB2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6F1AA-73F0-23E5-A5CC-9D28A64DA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8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4859-4F98-83E6-C1E2-672A9168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D6A91-AD10-0EB1-AEC4-22A36F67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B12BB-FEF5-E80B-ABEC-5C96CA3F0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B5A88-A06E-EEDB-24B7-8C157D421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71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40B9-A0DD-1828-C43E-7F0843F1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1F31D-80A5-1554-1BC3-BCA83F23F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968D5-A094-CE8C-ED53-BDB637678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D5203-8E41-FABF-6C67-D16546B7F4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60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5941-2A55-DC2D-D45B-38981C4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68444-975D-567B-B906-447200AB4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63457-FB8D-A2DE-340B-5AFABBF63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56E4-056C-A9FC-2137-2AB43085B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4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4FF6-F091-7217-C20A-AC3CF56F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8A4A7-47C2-C803-2489-B71883EB4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28606-99C2-D488-DBFE-6F06D839B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E2CB0-A9CC-1CF5-E59F-A543ED7B6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4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5C55-148C-9BCC-FBE8-E2F50F2E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100BB-4E2A-3A38-208A-7995AE929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E26E3-B6B3-CF83-B558-E8B46BAC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D099B-59FB-B698-4127-6DE3B20D0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65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6026-3FB0-D050-325A-53C36B6E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F275B-19F0-685D-C88D-32419EA31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91BB0-9E33-4153-FF4E-B98078312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9833-4D4F-C03F-C930-C5827BF5A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66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2142-26E2-0950-3700-7C21E345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F1622-14AA-AFF0-EEB9-898EBB601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CC17A-CA87-3119-B28A-555290CE8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68C47-CA6E-507F-03AF-CD6ECEEB6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48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9406" y="65665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MilTrack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75759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UAV-Based Military Vehicle Detection &amp; Tracking System</a:t>
            </a:r>
          </a:p>
        </p:txBody>
      </p:sp>
      <p:sp>
        <p:nvSpPr>
          <p:cNvPr id="6" name="Shape 4"/>
          <p:cNvSpPr/>
          <p:nvPr/>
        </p:nvSpPr>
        <p:spPr>
          <a:xfrm>
            <a:off x="1783806" y="2591697"/>
            <a:ext cx="5486400" cy="9144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 w="25400">
            <a:solidFill>
              <a:srgbClr val="EDF2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6686" y="2774577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AI447 - Computer Vision  •  Spring 2025-2026
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Instructor: Dr. Abdullah Al-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Amaren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3694296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Team Members:
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Samira Al-Damen  •  Wajd Almadi  •  Batool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Mahashi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Graphic 3" descr="Paperclip with solid fill">
            <a:extLst>
              <a:ext uri="{FF2B5EF4-FFF2-40B4-BE49-F238E27FC236}">
                <a16:creationId xmlns:a16="http://schemas.microsoft.com/office/drawing/2014/main" id="{24343E80-AB63-C4E2-AECD-E5158E5C6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60249">
            <a:off x="55876" y="4598"/>
            <a:ext cx="685732" cy="685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09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detect military vehicles from UAVs?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7969" y="102749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Surveillance &amp; threat assessment in conflict zones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intelligence for military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monitoring without ground personnel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2012" y="190820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6332" y="2389472"/>
            <a:ext cx="3657600" cy="2103120"/>
          </a:xfrm>
          <a:prstGeom prst="rect">
            <a:avLst/>
          </a:prstGeom>
          <a:solidFill>
            <a:srgbClr val="EDF2FA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9212" y="2480912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Objects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 as small as 32×32 pixels at high altitude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Variability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Day, night, fog conditions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Occlusion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 hidden by buildings/trees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2376237"/>
            <a:ext cx="3657600" cy="2103120"/>
          </a:xfrm>
          <a:prstGeom prst="rect">
            <a:avLst/>
          </a:prstGeom>
          <a:solidFill>
            <a:srgbClr val="EDF2FA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2467677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Constraint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≥30 FPS requirement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cars, 12% trucks, 8% buses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Multi-Class Detection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Car, Truck, Bus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012" y="44925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Goal: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+ Track 3 vehicle types in real-time under all conditions</a:t>
            </a:r>
            <a:endParaRPr lang="en-US" sz="15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400" b="1" dirty="0">
                <a:solidFill>
                  <a:srgbClr val="FFFFFF"/>
                </a:solidFill>
              </a:rPr>
              <a:t>: UAVDT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3631" y="110690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Dataset Overview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987464"/>
              </p:ext>
            </p:extLst>
          </p:nvPr>
        </p:nvGraphicFramePr>
        <p:xfrm>
          <a:off x="914400" y="1753001"/>
          <a:ext cx="7315200" cy="2560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Videos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sequences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Frames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~40,000 frames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1920×1080 @ 30 FPS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~840,000 bounding boxes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 (80%), Truck (12%), Bus (8%)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Day, Night, Fog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Altitude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Low, Medium, High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B54E4-E606-D66E-3DBE-5F2D2626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41C06D-E1DD-4FD2-4A8F-DFD3CAD52BC4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51D4E9-17EA-2866-52E4-B3F41518AEB2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UAVDT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AA6FD8B-6A40-B78C-D7B6-4DEC072AE6E4}"/>
              </a:ext>
            </a:extLst>
          </p:cNvPr>
          <p:cNvSpPr/>
          <p:nvPr/>
        </p:nvSpPr>
        <p:spPr>
          <a:xfrm>
            <a:off x="640080" y="188835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Split (70/15/15)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95CDDBC-ACE2-64E2-96B7-FB5818E1F705}"/>
              </a:ext>
            </a:extLst>
          </p:cNvPr>
          <p:cNvSpPr/>
          <p:nvPr/>
        </p:nvSpPr>
        <p:spPr>
          <a:xfrm>
            <a:off x="730317" y="2434590"/>
            <a:ext cx="2468880" cy="1188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25F4E6-C411-507D-12C7-8E579B65CAD3}"/>
              </a:ext>
            </a:extLst>
          </p:cNvPr>
          <p:cNvSpPr/>
          <p:nvPr/>
        </p:nvSpPr>
        <p:spPr>
          <a:xfrm>
            <a:off x="821757" y="252603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 sequences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~27,623 frames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A545191-80A1-F138-1B8E-B5B1CC919EB3}"/>
              </a:ext>
            </a:extLst>
          </p:cNvPr>
          <p:cNvSpPr/>
          <p:nvPr/>
        </p:nvSpPr>
        <p:spPr>
          <a:xfrm>
            <a:off x="3427797" y="2434590"/>
            <a:ext cx="2468880" cy="1188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EF97224-0734-D62A-FC36-9F8AC248F7C4}"/>
              </a:ext>
            </a:extLst>
          </p:cNvPr>
          <p:cNvSpPr/>
          <p:nvPr/>
        </p:nvSpPr>
        <p:spPr>
          <a:xfrm>
            <a:off x="3519237" y="252603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sequences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~5,562 frames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8152804-04DB-F3F2-CC7C-61E261FF63DA}"/>
              </a:ext>
            </a:extLst>
          </p:cNvPr>
          <p:cNvSpPr/>
          <p:nvPr/>
        </p:nvSpPr>
        <p:spPr>
          <a:xfrm>
            <a:off x="6125277" y="2434590"/>
            <a:ext cx="2468880" cy="1188720"/>
          </a:xfrm>
          <a:prstGeom prst="rect">
            <a:avLst/>
          </a:prstGeom>
          <a:solidFill>
            <a:srgbClr val="D1ECF1"/>
          </a:solidFill>
          <a:ln w="254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23A2B7-378E-8BD6-1815-CF7F0D46ABA8}"/>
              </a:ext>
            </a:extLst>
          </p:cNvPr>
          <p:cNvSpPr/>
          <p:nvPr/>
        </p:nvSpPr>
        <p:spPr>
          <a:xfrm>
            <a:off x="6216717" y="252603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sequences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~3,500 frames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02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(Processing Pipeline)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404085"/>
            <a:ext cx="1554480" cy="1097280"/>
          </a:xfrm>
          <a:prstGeom prst="rect">
            <a:avLst/>
          </a:prstGeom>
          <a:solidFill>
            <a:srgbClr val="2E5D8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95525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Input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(UAV footage)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1815565"/>
            <a:ext cx="822960" cy="274320"/>
          </a:xfrm>
          <a:prstGeom prst="rightArrow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0" y="1404085"/>
            <a:ext cx="1554480" cy="1097280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0" y="1404085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(YOLO/RT-DETR)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60520" y="1815565"/>
            <a:ext cx="822960" cy="274320"/>
          </a:xfrm>
          <a:prstGeom prst="rightArrow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404085"/>
            <a:ext cx="1554480" cy="10972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0" y="141070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(ByteTrack)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9320" y="1815565"/>
            <a:ext cx="822960" cy="274320"/>
          </a:xfrm>
          <a:prstGeom prst="rightArrow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404085"/>
            <a:ext cx="1554480" cy="1097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1495525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Annotated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85088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Pipeline Components: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262362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Detection: YOLOv11 or RT-DETR identifies vehicles and draws bounding boxes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Tracking: ByteTrack associates detections across frames using Kalman Filter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Output: Annotated video with vehicle IDs and class labels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23275-3D2D-4A99-4FED-42D86AAC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FE3388-B33F-B831-CC35-430AC4E73AFC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6A272E-E776-0C05-C272-D0D3E1D58E2D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 YOLOv11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C43359-7942-302A-4CBF-AB935B6EB105}"/>
              </a:ext>
            </a:extLst>
          </p:cNvPr>
          <p:cNvSpPr/>
          <p:nvPr/>
        </p:nvSpPr>
        <p:spPr>
          <a:xfrm>
            <a:off x="822960" y="165163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YOLOv11?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E63F82-3B08-DD5F-4B8D-5C33D9BA37B1}"/>
              </a:ext>
            </a:extLst>
          </p:cNvPr>
          <p:cNvSpPr/>
          <p:nvPr/>
        </p:nvSpPr>
        <p:spPr>
          <a:xfrm>
            <a:off x="822960" y="2255921"/>
            <a:ext cx="7863840" cy="1550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Latest CNN-based single-stage detector from </a:t>
            </a:r>
            <a:r>
              <a:rPr lang="en-US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Fast inference: Processes entire image in one forward pass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Three variants tested: Nano (2.6M), Medium (20M), Large (25M) parameters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17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 YOLOv11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YOLOv11 for UAV?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139670"/>
              </p:ext>
            </p:extLst>
          </p:nvPr>
        </p:nvGraphicFramePr>
        <p:xfrm>
          <a:off x="555674" y="1411304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 for UAV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 FPS on T4 GPU (meets 30 FPS requirement)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PANet Neck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fusion for small objects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Anchor-Free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generalization to varied vehicle sizes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Edge-deployable (51MB model size)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5674" y="3697304"/>
            <a:ext cx="8229600" cy="731520"/>
          </a:xfrm>
          <a:prstGeom prst="rect">
            <a:avLst/>
          </a:prstGeom>
          <a:solidFill>
            <a:srgbClr val="EDF2FA"/>
          </a:solidFill>
          <a:ln w="254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8554" y="38344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Models trained: YOLOv11 (n/m/l)  × configs A/B/C + RT-DETR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 RT-DETR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9742" y="133643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RT-DETR?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27274"/>
            <a:ext cx="7863840" cy="1519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Transformer-based detector (not CNN)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NMS-Free: End-to-end detection without post-processing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Deformable Attention: Focus on small objects dynamically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1BCCD-0C19-0442-BC46-31C6B780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2F9442-6AB2-DFB5-21DF-C6A61142A4FE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CC49BB-4F57-9DE2-7434-58D37019738C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 RT-DETR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9745AA-3026-7F39-2C5C-48CD7F2DCD57}"/>
              </a:ext>
            </a:extLst>
          </p:cNvPr>
          <p:cNvSpPr/>
          <p:nvPr/>
        </p:nvSpPr>
        <p:spPr>
          <a:xfrm>
            <a:off x="344658" y="9952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RT-DETR vs YOLOv11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9DEA40DD-D9C5-7BC6-78FC-910D74A35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03368"/>
              </p:ext>
            </p:extLst>
          </p:nvPr>
        </p:nvGraphicFramePr>
        <p:xfrm>
          <a:off x="161778" y="1670540"/>
          <a:ext cx="8595360" cy="2285997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YOLOv11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RT-DETR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CNN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Speed (T4 GPU)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67 FPS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26 FPS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Small Objects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Excellent (theory)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NMS Required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No (end-to-end)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Training Stability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Needs tuning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Test mAP@0.5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0.618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0.658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A04997D9-FEEC-8DB4-4FFE-9F1B4E77F766}"/>
              </a:ext>
            </a:extLst>
          </p:cNvPr>
          <p:cNvSpPr/>
          <p:nvPr/>
        </p:nvSpPr>
        <p:spPr>
          <a:xfrm>
            <a:off x="640080" y="40233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RT-DETR slower (26 FPS) due to suboptimal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278365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Tracking: ByteTrack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0504" y="1308294"/>
            <a:ext cx="8229600" cy="764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ByteTrack?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3384" y="2138288"/>
            <a:ext cx="7863840" cy="2039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Multi-object tracking algorithm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Associates detection bounding boxes across video frames</a:t>
            </a:r>
            <a:endParaRPr lang="ar-JO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Maintains vehicle IDs even during occlusion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28D94-075D-C15D-B105-5D92E7AC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3900B9-0782-58B3-0FD2-868CA99F4B9B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AFA0C4-D079-0549-BCCD-FBC06440397F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Tracking: ByteTrack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76CFC9-77AD-5E0D-FF93-18AA94CB342D}"/>
              </a:ext>
            </a:extLst>
          </p:cNvPr>
          <p:cNvSpPr/>
          <p:nvPr/>
        </p:nvSpPr>
        <p:spPr>
          <a:xfrm>
            <a:off x="457200" y="97594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Why ByteTrack for Aerial Tracking?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C96056-1087-4E50-DC04-2ED0390AAF1D}"/>
              </a:ext>
            </a:extLst>
          </p:cNvPr>
          <p:cNvSpPr/>
          <p:nvPr/>
        </p:nvSpPr>
        <p:spPr>
          <a:xfrm>
            <a:off x="569742" y="1533379"/>
            <a:ext cx="3749040" cy="2377440"/>
          </a:xfrm>
          <a:prstGeom prst="rect">
            <a:avLst/>
          </a:prstGeom>
          <a:solidFill>
            <a:srgbClr val="EDF2FA"/>
          </a:solidFill>
          <a:ln w="254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523136-6860-9E5A-9C4B-6A9356E3D717}"/>
              </a:ext>
            </a:extLst>
          </p:cNvPr>
          <p:cNvSpPr/>
          <p:nvPr/>
        </p:nvSpPr>
        <p:spPr>
          <a:xfrm>
            <a:off x="710418" y="1588770"/>
            <a:ext cx="36083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Two-Stage Association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Stage 1: Match high-confidence detections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Stage 2: Recover low-confidence (occluded vehicles)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ar-JO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Kalman Filter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Predicts vehicle position when detection fails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Handles temporary occlusion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82831F-45AB-D7A2-C1CF-8FE7A741B4E4}"/>
              </a:ext>
            </a:extLst>
          </p:cNvPr>
          <p:cNvSpPr/>
          <p:nvPr/>
        </p:nvSpPr>
        <p:spPr>
          <a:xfrm>
            <a:off x="4684542" y="1533379"/>
            <a:ext cx="3749040" cy="2377440"/>
          </a:xfrm>
          <a:prstGeom prst="rect">
            <a:avLst/>
          </a:prstGeom>
          <a:solidFill>
            <a:srgbClr val="EDF2FA"/>
          </a:solidFill>
          <a:ln w="254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4D2BF09-D2E7-93C8-3F45-4DDC5BC5B084}"/>
              </a:ext>
            </a:extLst>
          </p:cNvPr>
          <p:cNvSpPr/>
          <p:nvPr/>
        </p:nvSpPr>
        <p:spPr>
          <a:xfrm>
            <a:off x="4797084" y="1670539"/>
            <a:ext cx="363649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Robust to UAV Motion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Handles camera shake &amp; altitude changes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Maintains IDs across frames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Real-Time Performance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Lightweight algorithm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additional GPU overhead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6237DA-B61E-909F-D795-D7A179BE2004}"/>
              </a:ext>
            </a:extLst>
          </p:cNvPr>
          <p:cNvSpPr/>
          <p:nvPr/>
        </p:nvSpPr>
        <p:spPr>
          <a:xfrm>
            <a:off x="569742" y="4193931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28A7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US" sz="1200" b="1" dirty="0">
                <a:solidFill>
                  <a:srgbClr val="28A7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 continuous vehicle tracking across video sequences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567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6314A-5C2D-97B3-6815-90649389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688537-9147-E24E-A2BD-90470940C7F8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24055A-23C7-BAD6-8AE6-08A5BB8BE820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Experiments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2663BB-C0FC-1AED-7BB3-A116AEBCB745}"/>
              </a:ext>
            </a:extLst>
          </p:cNvPr>
          <p:cNvSpPr/>
          <p:nvPr/>
        </p:nvSpPr>
        <p:spPr>
          <a:xfrm>
            <a:off x="562708" y="142083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Experimental Configurations: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E579BE7E-56CC-AB3A-83FF-BC5243D85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10356"/>
              </p:ext>
            </p:extLst>
          </p:nvPr>
        </p:nvGraphicFramePr>
        <p:xfrm>
          <a:off x="647115" y="2166425"/>
          <a:ext cx="7849770" cy="2285999"/>
        </p:xfrm>
        <a:graphic>
          <a:graphicData uri="http://schemas.openxmlformats.org/drawingml/2006/table">
            <a:tbl>
              <a:tblPr/>
              <a:tblGrid>
                <a:gridCol w="156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5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mosaic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copy_paste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Change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2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mosaic + copy-paste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(default)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5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Aggressive augmentation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952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Experiments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5674" y="115355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Strategies: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723292"/>
            <a:ext cx="2848708" cy="2011680"/>
          </a:xfrm>
          <a:prstGeom prst="rect">
            <a:avLst/>
          </a:prstGeom>
          <a:solidFill>
            <a:srgbClr val="EDF2FA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59" y="1814732"/>
            <a:ext cx="242667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Mosaic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4 images into 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object density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small object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3337560" y="1723292"/>
            <a:ext cx="2848708" cy="2011680"/>
          </a:xfrm>
          <a:prstGeom prst="rect">
            <a:avLst/>
          </a:prstGeom>
          <a:solidFill>
            <a:srgbClr val="EDF2FA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20439" y="1814732"/>
            <a:ext cx="242667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Copy-Paste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minority classes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Pastes onto other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Fix class imbalance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35040" y="1723292"/>
            <a:ext cx="2848708" cy="2011680"/>
          </a:xfrm>
          <a:prstGeom prst="rect">
            <a:avLst/>
          </a:prstGeom>
          <a:solidFill>
            <a:srgbClr val="EDF2FA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17919" y="1814732"/>
            <a:ext cx="242667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=2.0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Doubles classification loss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 learning of trucks/buses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C only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-175847" y="4051495"/>
            <a:ext cx="9495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 30 epochs on NVIDIA A100 GPU (~8 min/epoch for YOLO)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9149B-2A51-2F11-81B6-3008BC92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D296AD-E844-B9DA-7D36-CFCCC6EC79A0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48AD95-382F-854D-D2C2-2669102AF808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Comparison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470D99-D057-B648-9107-DE5D999A4EEB}"/>
              </a:ext>
            </a:extLst>
          </p:cNvPr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3511320B-2FD3-ED44-D014-EEEF54BBC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474653"/>
              </p:ext>
            </p:extLst>
          </p:nvPr>
        </p:nvGraphicFramePr>
        <p:xfrm>
          <a:off x="590843" y="1695157"/>
          <a:ext cx="8229600" cy="235633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7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mAP@0.5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(FPS)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723"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YOLOv11m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 🥇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Best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7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YOLOv11m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0.629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723"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YOLOv11l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0.582 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723"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RT-DETR-l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7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YOLOv11m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0.554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Collapsed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C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51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Comparison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2115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Curves &amp; Confusion Matrix: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1" y="2103120"/>
            <a:ext cx="3749040" cy="2574388"/>
          </a:xfrm>
          <a:prstGeom prst="rect">
            <a:avLst/>
          </a:prstGeom>
          <a:solidFill>
            <a:srgbClr val="EDF2FA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59" y="2194560"/>
            <a:ext cx="6457071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A: Domain Gap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Train loss ↓ (0.697 → 0.236)</a:t>
            </a:r>
            <a:endParaRPr lang="ar-JO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Val loss ↑ (→ 1.162 → 1.965)</a:t>
            </a:r>
            <a:endParaRPr lang="ar-JO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train/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 across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configs (1.729)</a:t>
            </a:r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3749040" cy="2574388"/>
          </a:xfrm>
          <a:prstGeom prst="rect">
            <a:avLst/>
          </a:prstGeom>
          <a:solidFill>
            <a:srgbClr val="EDF2FA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7"/>
          <p:cNvSpPr/>
          <p:nvPr/>
        </p:nvSpPr>
        <p:spPr>
          <a:xfrm>
            <a:off x="4937760" y="2194559"/>
            <a:ext cx="3383280" cy="2412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Collapse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All models: Truck recall = 0.00</a:t>
            </a:r>
            <a:endParaRPr lang="ar-JO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All models: Bus recall = 0.00</a:t>
            </a:r>
            <a:endParaRPr lang="ar-JO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Only detected cars!</a:t>
            </a:r>
            <a:endParaRPr lang="ar-JO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80/12/8 imbalance too severe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AA38A-8EDC-E896-F31F-A2EDAA37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E83AEF-4613-C2E5-5D09-ABD554CDBF3B}"/>
              </a:ext>
            </a:extLst>
          </p:cNvPr>
          <p:cNvSpPr/>
          <p:nvPr/>
        </p:nvSpPr>
        <p:spPr>
          <a:xfrm>
            <a:off x="0" y="-1"/>
            <a:ext cx="9144000" cy="567983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9A1EB2-4194-32C8-89FD-2EC109FA162E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Comparison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E3B557C-1E0A-598D-074F-B96FC955A4EA}"/>
              </a:ext>
            </a:extLst>
          </p:cNvPr>
          <p:cNvSpPr/>
          <p:nvPr/>
        </p:nvSpPr>
        <p:spPr>
          <a:xfrm>
            <a:off x="520505" y="185236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227E98-0D35-1E29-34B6-93E4DA73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730" y="1095432"/>
            <a:ext cx="5588062" cy="1788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D6BF4A-C292-DDE3-6677-6FEDF306E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248" y="3087554"/>
            <a:ext cx="5647026" cy="1877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46D8E8-7231-77CF-3B12-458F099630BF}"/>
              </a:ext>
            </a:extLst>
          </p:cNvPr>
          <p:cNvSpPr txBox="1"/>
          <p:nvPr/>
        </p:nvSpPr>
        <p:spPr>
          <a:xfrm>
            <a:off x="457200" y="2618194"/>
            <a:ext cx="388008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Config A: collapses after Epoch 1</a:t>
            </a:r>
            <a:endParaRPr lang="ar-JO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ar-JO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Config B: most stable (std = 0.007)</a:t>
            </a:r>
            <a:endParaRPr lang="ar-JO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ar-JO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Config C: starts high, gradual decline</a:t>
            </a:r>
          </a:p>
        </p:txBody>
      </p:sp>
    </p:spTree>
    <p:extLst>
      <p:ext uri="{BB962C8B-B14F-4D97-AF65-F5344CB8AC3E}">
        <p14:creationId xmlns:p14="http://schemas.microsoft.com/office/powerpoint/2010/main" val="3730514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Demo (Gradio)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98200"/>
            <a:ext cx="3573194" cy="3703320"/>
          </a:xfrm>
          <a:prstGeom prst="rect">
            <a:avLst/>
          </a:prstGeom>
          <a:solidFill>
            <a:srgbClr val="E8F4F8"/>
          </a:solidFill>
          <a:ln w="254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8107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D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Tab: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20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Upload single image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Select model (YOLO or RT-DETR)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Click 'Detect'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View annotated image with bounding boxes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3244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D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Tab: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694" y="3693679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Upload video file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Select detection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Enable ByteTrack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Download annotated video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🎛️  Interface built with Gradio framework - user-friendly controls for detection &amp; tracking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C2EDDF-C672-0712-7526-D754AD072B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294" y="1472681"/>
            <a:ext cx="4338057" cy="32539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F17A1-B767-AA98-1636-6CBC4416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EC7FFD-1456-701E-233B-685C19111BEE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85A6DB-6C70-8AD3-95CF-F031BF553959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A8D755-4DFE-91ED-1E03-2EC5B2381EBB}"/>
              </a:ext>
            </a:extLst>
          </p:cNvPr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7CD3A4-3B77-CBD8-EFF7-0DEA065144F1}"/>
              </a:ext>
            </a:extLst>
          </p:cNvPr>
          <p:cNvSpPr/>
          <p:nvPr/>
        </p:nvSpPr>
        <p:spPr>
          <a:xfrm>
            <a:off x="640080" y="2328203"/>
            <a:ext cx="3749040" cy="1828800"/>
          </a:xfrm>
          <a:prstGeom prst="rect">
            <a:avLst/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693B92-772B-F886-9BEA-966E094C9683}"/>
              </a:ext>
            </a:extLst>
          </p:cNvPr>
          <p:cNvSpPr/>
          <p:nvPr/>
        </p:nvSpPr>
        <p:spPr>
          <a:xfrm>
            <a:off x="822960" y="2465363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Unresolved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80% cars dominate training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Trucks/buses recall = 0%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Copy-paste &amp; cls=2.0 failed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66EBFEA-246F-7526-68FE-437797650322}"/>
              </a:ext>
            </a:extLst>
          </p:cNvPr>
          <p:cNvSpPr/>
          <p:nvPr/>
        </p:nvSpPr>
        <p:spPr>
          <a:xfrm>
            <a:off x="4754880" y="2328203"/>
            <a:ext cx="3749040" cy="182880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FA7DCE-D4E1-8026-4B6C-376E431C5523}"/>
              </a:ext>
            </a:extLst>
          </p:cNvPr>
          <p:cNvSpPr/>
          <p:nvPr/>
        </p:nvSpPr>
        <p:spPr>
          <a:xfrm>
            <a:off x="4937760" y="2465363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RT-DETR Speed Issue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26 FPS (below 30 FPS req)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Needs TensorRT optimization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Hyperparameters not tuned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789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107661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Recommendations: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83532"/>
              </p:ext>
            </p:extLst>
          </p:nvPr>
        </p:nvGraphicFramePr>
        <p:xfrm>
          <a:off x="379827" y="174879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Focal Loss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fix class imbalance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at 1280×720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Preserve small vehicle features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 RT-DETR lr0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Unlock transformer potential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with TensorRT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up RT-DETR to 30+ FPS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79827" y="35775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Focal Loss requires source code modification - beyond project scope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1B8D9-467D-D9C0-9C42-013BC91C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7C76E0-2BF2-91FA-AB3D-B116B409F9D3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58D1E7-7571-50D0-EA84-02A41274BB2E}"/>
              </a:ext>
            </a:extLst>
          </p:cNvPr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906AFC-87E4-62B9-EDAD-9A2B14D67231}"/>
              </a:ext>
            </a:extLst>
          </p:cNvPr>
          <p:cNvSpPr/>
          <p:nvPr/>
        </p:nvSpPr>
        <p:spPr>
          <a:xfrm>
            <a:off x="457200" y="1186082"/>
            <a:ext cx="8229600" cy="497645"/>
          </a:xfrm>
          <a:prstGeom prst="rect">
            <a:avLst/>
          </a:prstGeom>
          <a:solidFill>
            <a:srgbClr val="D4EDDA"/>
          </a:solidFill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A60070-F528-D751-BB16-82B3BCA2EED4}"/>
              </a:ext>
            </a:extLst>
          </p:cNvPr>
          <p:cNvSpPr/>
          <p:nvPr/>
        </p:nvSpPr>
        <p:spPr>
          <a:xfrm>
            <a:off x="640080" y="130038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Winner: YOLOv11m Config 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1548ED-A96D-DCA1-80B2-25E1433CD94F}"/>
              </a:ext>
            </a:extLst>
          </p:cNvPr>
          <p:cNvSpPr/>
          <p:nvPr/>
        </p:nvSpPr>
        <p:spPr>
          <a:xfrm>
            <a:off x="640080" y="2170820"/>
            <a:ext cx="7863840" cy="1388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mAP@0.5: 0.618</a:t>
            </a:r>
          </a:p>
          <a:p>
            <a:endParaRPr lang="ar-JO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Speed: 67 FPS</a:t>
            </a:r>
          </a:p>
          <a:p>
            <a:endParaRPr lang="ar-JO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Edge-deployable: 51MB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stable training (lowest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cls_loss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variance across 30 epochs)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over RT-DETR (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0.658) — 67 FPS meets real-time UAV requirement; RT-DETR fails at 26 FPS</a:t>
            </a:r>
          </a:p>
        </p:txBody>
      </p:sp>
    </p:spTree>
    <p:extLst>
      <p:ext uri="{BB962C8B-B14F-4D97-AF65-F5344CB8AC3E}">
        <p14:creationId xmlns:p14="http://schemas.microsoft.com/office/powerpoint/2010/main" val="331347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477108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Model scale not the bottleneck (nano → large only +2% mAP)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Dataset imbalance is the performance ceiling (80/12/8 distribution)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YOLOv11 outperformed RT-DETR under current training conditions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ByteTrack enables robust multi-object tracking (+5 bonus marks)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System meets real-time requirement (67 FPS &gt;&gt; 30 FPS)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6437" y="3640016"/>
            <a:ext cx="8229600" cy="822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1738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Recommendation: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9917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YOLOv11m Config B selected for deployment due to real-time speed (67 FPS) and training stability, despite RT-DETR achieving higher mAP@0.5 (0.658 vs 0.618)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103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8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BBA6D-3B7A-F1B6-7F58-676020F09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828" y="-110259"/>
            <a:ext cx="827213" cy="827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852783-9c43-4d2f-85ef-3d988a95d9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7B15118A59F54C93A2AFB36C94F576" ma:contentTypeVersion="10" ma:contentTypeDescription="Create a new document." ma:contentTypeScope="" ma:versionID="f4cc989cf932afd22791ece06fddfa1d">
  <xsd:schema xmlns:xsd="http://www.w3.org/2001/XMLSchema" xmlns:xs="http://www.w3.org/2001/XMLSchema" xmlns:p="http://schemas.microsoft.com/office/2006/metadata/properties" xmlns:ns3="06852783-9c43-4d2f-85ef-3d988a95d9fd" targetNamespace="http://schemas.microsoft.com/office/2006/metadata/properties" ma:root="true" ma:fieldsID="c74d6cadb4e5658a3b145e31b9cdcb3c" ns3:_="">
    <xsd:import namespace="06852783-9c43-4d2f-85ef-3d988a95d9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52783-9c43-4d2f-85ef-3d988a95d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49C32E-ABFB-4280-BD36-0F45CF834C45}">
  <ds:schemaRefs>
    <ds:schemaRef ds:uri="http://www.w3.org/XML/1998/namespace"/>
    <ds:schemaRef ds:uri="http://schemas.microsoft.com/office/2006/metadata/properties"/>
    <ds:schemaRef ds:uri="http://purl.org/dc/elements/1.1/"/>
    <ds:schemaRef ds:uri="06852783-9c43-4d2f-85ef-3d988a95d9fd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EA2A28E-666B-4D6B-B35C-F3A9E8EDAA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0B8278-CB3B-4D71-95D1-BD55966CD9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852783-9c43-4d2f-85ef-3d988a95d9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1171</Words>
  <Application>Microsoft Office PowerPoint</Application>
  <PresentationFormat>On-screen Show (16:9)</PresentationFormat>
  <Paragraphs>345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MilTrack Presentation</dc:title>
  <dc:subject>AI447 Computer Vision Project</dc:subject>
  <dc:creator>MilTrack Team</dc:creator>
  <cp:lastModifiedBy>BATOOL IBRAHIM ALMAHASHI</cp:lastModifiedBy>
  <cp:revision>5</cp:revision>
  <dcterms:created xsi:type="dcterms:W3CDTF">2026-05-14T12:02:27Z</dcterms:created>
  <dcterms:modified xsi:type="dcterms:W3CDTF">2026-05-14T17:17:34Z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0x010100B47B15118A59F54C93A2AFB36C94F576</vt:lpwstr>
  </property>
</Properties>
</file>